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84d70a807c418b" /><Relationship Type="http://schemas.openxmlformats.org/officeDocument/2006/relationships/extended-properties" Target="/docProps/app.xml" Id="Rd6db62b3b0424e0d" /><Relationship Type="http://schemas.openxmlformats.org/officeDocument/2006/relationships/officeDocument" Target="/ppt/presentation.xml" Id="R56613312bedc4e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c7cb40c08f430b"/>
  </p:sldMasterIdLst>
  <p:notesMasterIdLst>
    <p:notesMasterId xmlns:r="http://schemas.openxmlformats.org/officeDocument/2006/relationships" r:id="R16219a79e83845c6"/>
  </p:notesMasterIdLst>
  <p:sldIdLst>
    <p:sldId xmlns:r="http://schemas.openxmlformats.org/officeDocument/2006/relationships" id="256" r:id="R9f66301e493b4c8a"/>
    <p:sldId xmlns:r="http://schemas.openxmlformats.org/officeDocument/2006/relationships" id="257" r:id="Rdad4f06c97294fd7"/>
    <p:sldId xmlns:r="http://schemas.openxmlformats.org/officeDocument/2006/relationships" id="258" r:id="R6f0d38a44f96480f"/>
    <p:sldId xmlns:r="http://schemas.openxmlformats.org/officeDocument/2006/relationships" id="259" r:id="R417a55c8c13b4d19"/>
    <p:sldId xmlns:r="http://schemas.openxmlformats.org/officeDocument/2006/relationships" id="260" r:id="Rbd31d48f026445cd"/>
    <p:sldId xmlns:r="http://schemas.openxmlformats.org/officeDocument/2006/relationships" id="261" r:id="R7fe188030a704a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8d7f5315b54597" /><Relationship Type="http://schemas.openxmlformats.org/officeDocument/2006/relationships/slideMaster" Target="/ppt/slideMasters/slideMaster1.xml" Id="R2ec7cb40c08f430b" /><Relationship Type="http://schemas.openxmlformats.org/officeDocument/2006/relationships/notesMaster" Target="/ppt/notesMasters/notesMaster1.xml" Id="R16219a79e83845c6" /><Relationship Type="http://schemas.openxmlformats.org/officeDocument/2006/relationships/presProps" Target="/ppt/presProps.xml" Id="Rbc70c8e3cd014bcb" /><Relationship Type="http://schemas.openxmlformats.org/officeDocument/2006/relationships/tableStyles" Target="/ppt/tableStyles.xml" Id="R2a844ecac731417d" /><Relationship Type="http://schemas.openxmlformats.org/officeDocument/2006/relationships/slide" Target="/ppt/slides/slide1.xml" Id="R9f66301e493b4c8a" /><Relationship Type="http://schemas.openxmlformats.org/officeDocument/2006/relationships/slide" Target="/ppt/slides/slide2.xml" Id="Rdad4f06c97294fd7" /><Relationship Type="http://schemas.openxmlformats.org/officeDocument/2006/relationships/slide" Target="/ppt/slides/slide3.xml" Id="R6f0d38a44f96480f" /><Relationship Type="http://schemas.openxmlformats.org/officeDocument/2006/relationships/slide" Target="/ppt/slides/slide4.xml" Id="R417a55c8c13b4d19" /><Relationship Type="http://schemas.openxmlformats.org/officeDocument/2006/relationships/slide" Target="/ppt/slides/slide5.xml" Id="Rbd31d48f026445cd" /><Relationship Type="http://schemas.openxmlformats.org/officeDocument/2006/relationships/slide" Target="/ppt/slides/slide6.xml" Id="R7fe188030a704a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fc983a6ee249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98e5507d044513" /><Relationship Type="http://schemas.openxmlformats.org/officeDocument/2006/relationships/notesMaster" Target="/ppt/notesMasters/notesMaster1.xml" Id="R8f79e1e32b5f4f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4109761a684369" /><Relationship Type="http://schemas.openxmlformats.org/officeDocument/2006/relationships/notesMaster" Target="/ppt/notesMasters/notesMaster1.xml" Id="R2befcfc96a2e45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18ebc850af459c" /><Relationship Type="http://schemas.openxmlformats.org/officeDocument/2006/relationships/notesMaster" Target="/ppt/notesMasters/notesMaster1.xml" Id="R99df448ca6e241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908f1fe5794c5c" /><Relationship Type="http://schemas.openxmlformats.org/officeDocument/2006/relationships/notesMaster" Target="/ppt/notesMasters/notesMaster1.xml" Id="R7e7b54eaf3394b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14f4031e434bc4" /><Relationship Type="http://schemas.openxmlformats.org/officeDocument/2006/relationships/notesMaster" Target="/ppt/notesMasters/notesMaster1.xml" Id="R4b3f2f48781a46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7cd01bce5c44ae" /><Relationship Type="http://schemas.openxmlformats.org/officeDocument/2006/relationships/notesMaster" Target="/ppt/notesMasters/notesMaster1.xml" Id="Rdb14f5b0634b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1: staff-only sign-in. Never place credentials in this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2: the customer must choose the activity before presenting the QR.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3: customer action only prepares the QR. Redemption is atomic and staff-confirmed after scan.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4: use masked member records and the event history to resolve questions before any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5: verify identity in person. Recovery codes expire after 15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6: security checklist and admin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893c2a8624b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296d6c17254d88" /><Relationship Type="http://schemas.openxmlformats.org/officeDocument/2006/relationships/slideLayout" Target="/ppt/slideLayouts/slideLayout1.xml" Id="Rdcb853e45e3247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b853e45e3247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08eca7df24a91" /><Relationship Type="http://schemas.openxmlformats.org/officeDocument/2006/relationships/image" Target="/ppt/media/image.png" Id="Rcd437fbdf1014a0c" /><Relationship Type="http://schemas.openxmlformats.org/officeDocument/2006/relationships/notesSlide" Target="/ppt/notesSlides/notesSlide1.xml" Id="Rc5bdbbad048a4e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25da1884f4e89" /><Relationship Type="http://schemas.openxmlformats.org/officeDocument/2006/relationships/image" Target="/ppt/media/image2.png" Id="Rb66ef9e345e8418d" /><Relationship Type="http://schemas.openxmlformats.org/officeDocument/2006/relationships/notesSlide" Target="/ppt/notesSlides/notesSlide2.xml" Id="R600fd09539d649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b56e3afb44c53" /><Relationship Type="http://schemas.openxmlformats.org/officeDocument/2006/relationships/image" Target="/ppt/media/image3.png" Id="R1b0ac315005a4c65" /><Relationship Type="http://schemas.openxmlformats.org/officeDocument/2006/relationships/notesSlide" Target="/ppt/notesSlides/notesSlide3.xml" Id="R070277e08fb944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9768751954e7c" /><Relationship Type="http://schemas.openxmlformats.org/officeDocument/2006/relationships/image" Target="/ppt/media/image4.png" Id="R227759802b7f4d3b" /><Relationship Type="http://schemas.openxmlformats.org/officeDocument/2006/relationships/notesSlide" Target="/ppt/notesSlides/notesSlide4.xml" Id="Rb026011996cd49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8585e40af4c58" /><Relationship Type="http://schemas.openxmlformats.org/officeDocument/2006/relationships/image" Target="/ppt/media/image5.png" Id="Ra0e8bfacaf934ee5" /><Relationship Type="http://schemas.openxmlformats.org/officeDocument/2006/relationships/notesSlide" Target="/ppt/notesSlides/notesSlide5.xml" Id="R3ea790fca72b4e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58d1c10004fb4" /><Relationship Type="http://schemas.openxmlformats.org/officeDocument/2006/relationships/image" Target="/ppt/media/image.jpeg" Id="R4aaf09280c664b20" /><Relationship Type="http://schemas.openxmlformats.org/officeDocument/2006/relationships/hyperlink" Target="https://2thooo.github.io/x-stop-site/loyalty/#/admin" TargetMode="External" Id="Rdda9aa04922a45a4" /><Relationship Type="http://schemas.openxmlformats.org/officeDocument/2006/relationships/notesSlide" Target="/ppt/notesSlides/notesSlide6.xml" Id="R6b25805058be40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E5832D-A6EF-4432-9A90-EA90B88D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50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82AB8-6C97-4851-B6AF-A2805A58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B2B4A-75BE-411C-99DE-908BBF9C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45727-1066-465C-9422-F798C884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B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46BFF"/>
                </a:solidFill>
                <a:latin typeface="Arial"/>
                <a:ea typeface="Arial"/>
                <a:cs typeface="Arial"/>
              </a:rPr>
              <a:t>EMPLOYEE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D6252-2B4A-42BB-B71D-11FF9059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Secure admin sign-in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5124D-BED6-45F3-B5A5-D729C675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92A38-A0C4-49C0-A4B3-925CCF4C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6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3B84A-A656-425D-A5D1-F0B42187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B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6F105-B753-4191-8882-6AC5C5D5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9B9DD"/>
                </a:solidFill>
                <a:latin typeface="Arial"/>
                <a:ea typeface="Arial"/>
                <a:cs typeface="Arial"/>
              </a:rPr>
              <a:t>X GROUP  •  ACTIVITY PASSPORT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99C74-FD81-4174-809B-4872B0DA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817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9B9DD"/>
                </a:solidFill>
                <a:latin typeface="Arial"/>
                <a:ea typeface="Arial"/>
                <a:cs typeface="Arial"/>
              </a:rPr>
              <a:t>xgroup.ae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776B4-71AF-4B1D-A736-3AA8C1A4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6591300" cy="4743450"/>
          </a:xfrm>
          <a:prstGeom xmlns:a="http://schemas.openxmlformats.org/drawingml/2006/main" prst="roundRect">
            <a:avLst>
              <a:gd name="adj" fmla="val 1606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9525">
            <a:solidFill>
              <a:srgbClr val="3A2B47"/>
            </a:solidFill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37fbdf1014a0c"/>
          <a:srcRect xmlns:a="http://schemas.openxmlformats.org/drawingml/2006/main" l="0" t="3219" r="0" b="32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6477000" cy="4629150"/>
          </a:xfrm>
          <a:prstGeom xmlns:a="http://schemas.openxmlformats.org/drawingml/2006/main" prst="roundRect">
            <a:avLst>
              <a:gd name="adj" fmla="val 246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90C71-0B59-4FE5-B743-96F29082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52E"/>
          </a:solidFill>
          <a:ln xmlns:a="http://schemas.openxmlformats.org/drawingml/2006/main" w="9525">
            <a:solidFill>
              <a:srgbClr val="3A2B4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BCE5A-B20E-4A6E-87D7-E9F05281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144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46B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46BFF"/>
                </a:solidFill>
                <a:latin typeface="Arial"/>
                <a:ea typeface="Arial"/>
                <a:cs typeface="Arial"/>
              </a:rPr>
              <a:t>ADMIN LOGIN SCREEN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3CE06-D297-40DB-8AFC-472DF147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28750"/>
            <a:ext cx="4267200" cy="462915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11F"/>
          </a:solidFill>
          <a:ln xmlns:a="http://schemas.openxmlformats.org/drawingml/2006/main" w="9525">
            <a:solidFill>
              <a:srgbClr val="3A2B4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04106-967A-4779-BEB3-883DC7D2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38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9EC1F-E9B8-45B5-B1E8-004E19A3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05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050D"/>
                </a:solidFill>
                <a:latin typeface="Arial"/>
                <a:ea typeface="Arial"/>
                <a:cs typeface="Arial"/>
              </a:rPr>
              <a:t>STAFF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4BD29-0F3F-49F8-850F-E992EC8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43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3833C-6CD9-4C3D-8A3F-153B0952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5AD4C-C7FC-41AE-865A-9ED881CB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43125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Open the X Group admin page.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D5239-E791-44F6-A6EE-25B0DF79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62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B6371D-2AD7-470A-9967-E864244A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9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A764B4-2A9E-46AF-B6AF-625CD8EA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62275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Enter your assigned admin email and password.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B9574-4AC0-4F6D-B510-4D50C548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76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2852C4-5C33-434A-A1C6-301730BE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24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563AF2-FA61-4BCE-8B41-128A06D7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76675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Tap “Open admin dashboard”.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EE6888-B83B-428A-84B9-98F8B7AC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14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52C6A3-AF1B-4F5E-86E5-43DABDCA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62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2C882F-1CB0-42A8-8D23-01E4EC0B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14875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Use your own account and never share the password.</a:t>
            </a:r>
          </a:p>
        </p:txBody>
      </p:sp>
    </p:spTree>
    <p:extLst>
      <p:ext uri="{BB962C8B-B14F-4D97-AF65-F5344CB8AC3E}">
        <p14:creationId xmlns:p14="http://schemas.microsoft.com/office/powerpoint/2010/main" val="9546156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90472-E37D-4617-AE05-9B6B4357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50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C9CA0-9DA1-4367-9674-6BB0423F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58E52-268D-4956-9FF0-36723C7B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B5F3D-4C73-4016-84EE-003C1B42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B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46BFF"/>
                </a:solidFill>
                <a:latin typeface="Arial"/>
                <a:ea typeface="Arial"/>
                <a:cs typeface="Arial"/>
              </a:rPr>
              <a:t>EMPLOYEE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9DEF0-052C-4E3A-9398-8AD7C353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Scan the customer passport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72BFB-50BC-4325-A17B-39D3F896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6890F-A292-45FC-84C6-97BCA8CF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6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B5610-089B-413B-B969-31D65B17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B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94B91-CE27-474A-8391-4CC6F351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9B9DD"/>
                </a:solidFill>
                <a:latin typeface="Arial"/>
                <a:ea typeface="Arial"/>
                <a:cs typeface="Arial"/>
              </a:rPr>
              <a:t>X GROUP  •  ACTIVITY PASSPORT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769B2-1948-46AE-BE4A-6CE218A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817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9B9DD"/>
                </a:solidFill>
                <a:latin typeface="Arial"/>
                <a:ea typeface="Arial"/>
                <a:cs typeface="Arial"/>
              </a:rPr>
              <a:t>xgroup.ae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1628A-CD65-4DD8-BDC4-C41FA024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019550" cy="499110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9525">
            <a:solidFill>
              <a:srgbClr val="3A2B47"/>
            </a:solidFill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ef9e345e8418d"/>
          <a:stretch xmlns:a="http://schemas.openxmlformats.org/drawingml/2006/main"/>
        </p:blipFill>
        <p:spPr>
          <a:xfrm xmlns:a="http://schemas.openxmlformats.org/drawingml/2006/main">
            <a:off x="1077003" y="1409700"/>
            <a:ext cx="2894243" cy="487680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C5176-9AFC-4F3C-837F-BC3BCB56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09700"/>
            <a:ext cx="6858000" cy="48768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7111F"/>
          </a:solidFill>
          <a:ln xmlns:a="http://schemas.openxmlformats.org/drawingml/2006/main" w="9525">
            <a:solidFill>
              <a:srgbClr val="3A2B4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B4621-3A8F-4059-8703-1AD605AF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28775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2713D-4059-4093-9EE7-10FB6181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668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3FA8C-3649-4B1D-846E-419262E4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24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87FD2-CF4B-46CD-8571-3D35FAFD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71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3B1B4-0EA1-48F3-BC87-13EB62EC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24075"/>
            <a:ext cx="573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Ask the customer to select the correct activity.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A31D5-8CED-43F6-8EDE-EF91E4DC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00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9B003-DD6B-4B7F-94BF-CC01F8D8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48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0015E-C07A-406E-92C6-0629EA00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0375"/>
            <a:ext cx="573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Tap “Scan a passport”, then start the camera.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71833-55F1-474A-B660-24C8696D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76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27749-F466-4248-81CE-F493EB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24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55D86-04A5-4FB8-AC91-09449DA3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76675"/>
            <a:ext cx="573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Hold the one-time QR code inside the frame.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38D12-CDED-47C9-9DA6-EBDE88D3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52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25AEC-F9D9-455B-9317-9B6A036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00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2B8B89-FE6E-4CC3-98F8-5986C8F7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52975"/>
            <a:ext cx="573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Verify the member name and activity before continuing.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FD6404-2EE0-4BBC-B23D-678C698F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7531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3D46C9-E9DD-4508-89B3-93CB84A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912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ONE-TIME QR</a:t>
            </a:r>
          </a:p>
        </p:txBody>
      </p:sp>
    </p:spTree>
    <p:extLst>
      <p:ext uri="{BB962C8B-B14F-4D97-AF65-F5344CB8AC3E}">
        <p14:creationId xmlns:p14="http://schemas.microsoft.com/office/powerpoint/2010/main" val="13503750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7E6D9F-11EB-46BF-8514-6BABE56B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50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FC0BB-C8B7-4535-A6D4-3368A21B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6E754-F4E1-45F1-AB17-AC15D9D5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E6823-D55F-4A35-A03F-18D18422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B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46BFF"/>
                </a:solidFill>
                <a:latin typeface="Arial"/>
                <a:ea typeface="Arial"/>
                <a:cs typeface="Arial"/>
              </a:rPr>
              <a:t>EMPLOYEE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8825F-7E42-478C-8092-39CE5A41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Award points or redeem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A65C5-BE3C-4C17-AF81-72354A45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EEFFA-5FC5-49CA-963D-99556EEA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6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9AFF1-3892-45E7-A1C2-BE8A4FB8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B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A79E5-4570-496E-8B48-EF6FBF6D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9B9DD"/>
                </a:solidFill>
                <a:latin typeface="Arial"/>
                <a:ea typeface="Arial"/>
                <a:cs typeface="Arial"/>
              </a:rPr>
              <a:t>X GROUP  •  ACTIVITY PASSPORT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D4F35-75A8-47D1-B1BA-9D4C7696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817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9B9DD"/>
                </a:solidFill>
                <a:latin typeface="Arial"/>
                <a:ea typeface="Arial"/>
                <a:cs typeface="Arial"/>
              </a:rPr>
              <a:t>xgroup.ae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B6AF0-9D26-4360-88CF-AEF29241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B9DD"/>
                </a:solidFill>
                <a:latin typeface="Arial"/>
                <a:ea typeface="Arial"/>
                <a:cs typeface="Arial"/>
              </a:rPr>
              <a:t>The customer can request a reward. Only authenticated staff can complete it after a new scan.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6918E-5A30-452E-8F8B-3D2976B3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1432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7111F"/>
          </a:solidFill>
          <a:ln xmlns:a="http://schemas.openxmlformats.org/drawingml/2006/main" w="9525">
            <a:solidFill>
              <a:srgbClr val="3A2B4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1F207-A636-42C0-9057-1E2D1B48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92FFC-AC67-48FA-B91C-A8214AC6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B6A23-FFB2-42CE-945C-9B544C70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Customer requests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2B86B-110E-4CD4-8D83-10907E05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31432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9525">
            <a:solidFill>
              <a:srgbClr val="741C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FA634-F117-4DAB-ACDF-F4183C9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7FC81-0B9A-4E36-A6D9-A1F4125E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14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7DE33-B67B-47D5-BF32-23D6B735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95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Staff scans QR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9FAF8-14BF-46A8-98E0-BE7C36BA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7111F"/>
          </a:solidFill>
          <a:ln xmlns:a="http://schemas.openxmlformats.org/drawingml/2006/main" w="9525">
            <a:solidFill>
              <a:srgbClr val="3A2B4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6600D-A1C8-4281-A7D7-9944EF34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3A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459B3-93DB-44F3-A40E-D4B246ED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050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050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7EF56-C462-4BAB-8A20-7813DB35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Staff confirms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294487-42A4-454A-A961-1320694E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4955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D0912"/>
          </a:solidFill>
          <a:ln xmlns:a="http://schemas.openxmlformats.org/drawingml/2006/main" w="9525">
            <a:solidFill>
              <a:srgbClr val="3A2B4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D5DC2-2EF3-444B-9BC3-9892BBA4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B603DE-374B-4A90-86F6-678B2A96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05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050D"/>
                </a:solidFill>
                <a:latin typeface="Arial"/>
                <a:ea typeface="Arial"/>
                <a:cs typeface="Arial"/>
              </a:rPr>
              <a:t>REWARD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E54E18-601F-4706-8875-F6ADCA09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Tap Redeem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D328E-8D06-499E-9F64-0F3F17EE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B9DD"/>
                </a:solidFill>
                <a:latin typeface="Arial"/>
                <a:ea typeface="Arial"/>
                <a:cs typeface="Arial"/>
              </a:rPr>
              <a:t>Then show the refreshed QR to staff.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A3942C-68C3-4C54-BACC-D3ABE8EF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14625"/>
            <a:ext cx="17716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ac315005a4c65"/>
          <a:stretch xmlns:a="http://schemas.openxmlformats.org/drawingml/2006/main"/>
        </p:blipFill>
        <p:spPr>
          <a:xfrm xmlns:a="http://schemas.openxmlformats.org/drawingml/2006/main">
            <a:off x="5172075" y="2867025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3A54E1-201F-4F8C-964D-E8AFBCB7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495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1D327A-735C-4755-A3F3-CFE91868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Add visit points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B4DD7E-A049-47F6-9C46-CF7F3358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76625"/>
            <a:ext cx="2495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47FA2B-ED35-4CA3-8034-8BFB614B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480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050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050D"/>
                </a:solidFill>
                <a:latin typeface="Arial"/>
                <a:ea typeface="Arial"/>
                <a:cs typeface="Arial"/>
              </a:rPr>
              <a:t>Redeem reward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2DC4FB-272F-473C-84D2-1C00BA85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291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9B9DD"/>
                </a:solidFill>
                <a:latin typeface="Arial"/>
                <a:ea typeface="Arial"/>
                <a:cs typeface="Arial"/>
              </a:rPr>
              <a:t>Cancel if no transaction happened.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385C18-427E-404E-B329-2CCE2223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62275"/>
            <a:ext cx="43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54A4FC-28BE-4183-A73C-72F48FBC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62275"/>
            <a:ext cx="43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BD618B-62A3-4EF5-85A4-D7A8CA94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9525">
            <a:solidFill>
              <a:srgbClr val="FFD21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5DD136-4EF6-4ED2-BF02-5020A0E7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Never press twice. Never award or redeem against the wrong activity.</a:t>
            </a:r>
          </a:p>
        </p:txBody>
      </p:sp>
    </p:spTree>
    <p:extLst>
      <p:ext uri="{BB962C8B-B14F-4D97-AF65-F5344CB8AC3E}">
        <p14:creationId xmlns:p14="http://schemas.microsoft.com/office/powerpoint/2010/main" val="5663814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A925D-D189-457B-BB63-471FF5AE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50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3BEDA-FCE8-4DA6-A77C-E6F801F4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DC399-2A5E-40A7-8FF5-D47D6745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C2A3C-B525-4DF9-A54A-837C8DB3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B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46BFF"/>
                </a:solidFill>
                <a:latin typeface="Arial"/>
                <a:ea typeface="Arial"/>
                <a:cs typeface="Arial"/>
              </a:rPr>
              <a:t>EMPLOYEE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DC0-ED53-4A3B-95D2-393D4C88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Members and complete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581D5-8A0A-4691-A715-786622E2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A07CA-5D5E-4B3C-ADF9-6D6D3B23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6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15AF9-E3CF-4322-8599-45DAFE01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B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95FCD-047C-4E26-81C9-FE88AFB7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9B9DD"/>
                </a:solidFill>
                <a:latin typeface="Arial"/>
                <a:ea typeface="Arial"/>
                <a:cs typeface="Arial"/>
              </a:rPr>
              <a:t>X GROUP  •  ACTIVITY PASSPORT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C1FE9-10B9-4390-BF48-7A8704C2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817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9B9DD"/>
                </a:solidFill>
                <a:latin typeface="Arial"/>
                <a:ea typeface="Arial"/>
                <a:cs typeface="Arial"/>
              </a:rPr>
              <a:t>xgroup.ae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493AB-D204-4D4B-8028-0531D04B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9525">
            <a:solidFill>
              <a:srgbClr val="3A2B47"/>
            </a:solidFill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759802b7f4d3b"/>
          <a:stretch xmlns:a="http://schemas.openxmlformats.org/drawingml/2006/main"/>
        </p:blipFill>
        <p:spPr>
          <a:xfrm xmlns:a="http://schemas.openxmlformats.org/drawingml/2006/main">
            <a:off x="1463534" y="1428750"/>
            <a:ext cx="9264932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E5097-5BA4-4D5D-AAE1-3EA7CBD2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286375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17111F"/>
          </a:solidFill>
          <a:ln xmlns:a="http://schemas.openxmlformats.org/drawingml/2006/main" w="9525">
            <a:solidFill>
              <a:srgbClr val="3A2B4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16A54-D052-4458-954D-F485486C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314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53BE4-D6AB-41D2-9C65-74890851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MEMBER 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7F9A1-35D8-4E20-AC70-90BAEAD8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762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4FF"/>
                </a:solidFill>
                <a:latin typeface="Arial"/>
                <a:ea typeface="Arial"/>
                <a:cs typeface="Arial"/>
              </a:rPr>
              <a:t>• Masked phone number</a:t>
            </a:r>
          </a:p>
          <a:p xmlns:a="http://schemas.openxmlformats.org/drawingml/2006/main">
            <a:pPr algn="l">
              <a:defRPr sz="1350" b="0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4FF"/>
                </a:solidFill>
                <a:latin typeface="Arial"/>
                <a:ea typeface="Arial"/>
                <a:cs typeface="Arial"/>
              </a:rPr>
              <a:t>• Activity balances and visit count</a:t>
            </a:r>
          </a:p>
          <a:p xmlns:a="http://schemas.openxmlformats.org/drawingml/2006/main">
            <a:pPr algn="l">
              <a:defRPr sz="1350" b="0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4FF"/>
                </a:solidFill>
                <a:latin typeface="Arial"/>
                <a:ea typeface="Arial"/>
                <a:cs typeface="Arial"/>
              </a:rPr>
              <a:t>• Last visit</a:t>
            </a:r>
          </a:p>
          <a:p xmlns:a="http://schemas.openxmlformats.org/drawingml/2006/main">
            <a:pPr algn="l">
              <a:defRPr sz="1350" b="0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4FF"/>
                </a:solidFill>
                <a:latin typeface="Arial"/>
                <a:ea typeface="Arial"/>
                <a:cs typeface="Arial"/>
              </a:rPr>
              <a:t>• Reset PIN for a verified 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C4B8B-1074-4132-8B97-F631DAAC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5286375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9525">
            <a:solidFill>
              <a:srgbClr val="3A2B4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59039-694B-49E6-8481-74853A5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05300"/>
            <a:ext cx="1847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E7117-5A38-4CB9-B866-147B251F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434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05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050D"/>
                </a:solidFill>
                <a:latin typeface="Arial"/>
                <a:ea typeface="Arial"/>
                <a:cs typeface="Arial"/>
              </a:rPr>
              <a:t>COMPLETE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1B299-C6A8-4E8B-BCB7-EFD78D45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62500"/>
            <a:ext cx="4762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4FF"/>
                </a:solidFill>
                <a:latin typeface="Arial"/>
                <a:ea typeface="Arial"/>
                <a:cs typeface="Arial"/>
              </a:rPr>
              <a:t>• Scans and confirmed points stay separate</a:t>
            </a:r>
          </a:p>
          <a:p xmlns:a="http://schemas.openxmlformats.org/drawingml/2006/main">
            <a:pPr algn="l">
              <a:defRPr sz="1350" b="0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4FF"/>
                </a:solidFill>
                <a:latin typeface="Arial"/>
                <a:ea typeface="Arial"/>
                <a:cs typeface="Arial"/>
              </a:rPr>
              <a:t>• Reward redemptions are recorded</a:t>
            </a:r>
          </a:p>
          <a:p xmlns:a="http://schemas.openxmlformats.org/drawingml/2006/main">
            <a:pPr algn="l">
              <a:defRPr sz="1350" b="0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4FF"/>
                </a:solidFill>
                <a:latin typeface="Arial"/>
                <a:ea typeface="Arial"/>
                <a:cs typeface="Arial"/>
              </a:rPr>
              <a:t>• Review the history before resolving a dispute</a:t>
            </a:r>
          </a:p>
        </p:txBody>
      </p:sp>
    </p:spTree>
    <p:extLst>
      <p:ext uri="{BB962C8B-B14F-4D97-AF65-F5344CB8AC3E}">
        <p14:creationId xmlns:p14="http://schemas.microsoft.com/office/powerpoint/2010/main" val="3545246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DDADF5-61FB-4B83-9EC9-588D2702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50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D1522-CC34-4A20-BC36-6417787E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19CFD-77A3-492B-9F10-BA8049B0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7A021-C060-464E-81FB-EBD95DCB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B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46BFF"/>
                </a:solidFill>
                <a:latin typeface="Arial"/>
                <a:ea typeface="Arial"/>
                <a:cs typeface="Arial"/>
              </a:rPr>
              <a:t>EMPLOYEE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ADA2D-C0FB-4A77-BA61-5128259A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Forgotten PIN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7AA83-BA86-48B2-8FB3-BE2F7B39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AB49A-EBAC-4070-B687-B996F716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6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19542-EB20-450B-8A62-8F0381D5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B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A4790-48FE-49A2-97CC-9BF4AEFC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9B9DD"/>
                </a:solidFill>
                <a:latin typeface="Arial"/>
                <a:ea typeface="Arial"/>
                <a:cs typeface="Arial"/>
              </a:rPr>
              <a:t>X GROUP  •  ACTIVITY PASSPORT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5842A-5E35-4F30-A62D-17044F8B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817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9B9DD"/>
                </a:solidFill>
                <a:latin typeface="Arial"/>
                <a:ea typeface="Arial"/>
                <a:cs typeface="Arial"/>
              </a:rPr>
              <a:t>xgroup.ae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A3557-9226-481D-A179-F212FD1A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4572000" cy="4762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7111F"/>
          </a:solidFill>
          <a:ln xmlns:a="http://schemas.openxmlformats.org/drawingml/2006/main" w="9525">
            <a:solidFill>
              <a:srgbClr val="3A2B4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A34E3-F9B2-4E75-83EE-03C5BC71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565DD-861A-4BF0-BC76-BB7889B6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05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050D"/>
                </a:solidFill>
                <a:latin typeface="Arial"/>
                <a:ea typeface="Arial"/>
                <a:cs typeface="Arial"/>
              </a:rPr>
              <a:t>EXPIRES IN 15 MINUTES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C7859-C8BC-4DEA-B018-5880D36D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191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9525">
            <a:solidFill>
              <a:srgbClr val="3A2B47"/>
            </a:solidFill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8bfacaf934ee5"/>
          <a:srcRect xmlns:a="http://schemas.openxmlformats.org/drawingml/2006/main" l="13324" t="0" r="133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152650"/>
            <a:ext cx="4076700" cy="2266950"/>
          </a:xfrm>
          <a:prstGeom xmlns:a="http://schemas.openxmlformats.org/drawingml/2006/main" prst="roundRect">
            <a:avLst>
              <a:gd name="adj" fmla="val 504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C6D9F-EE3C-4A49-AC67-6861F1E3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4076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The reset code expires automatically. Staff never sees or chooses the customer’s new PIN.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E6C31-5256-40AD-AA85-0228D421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61912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9525">
            <a:solidFill>
              <a:srgbClr val="3A2B4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80445-7686-4A4D-92AF-F2E2A3EB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85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3AAF6-B645-42E4-A956-1F51B196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33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30FED-12B8-4CFE-A6D0-C1BA6F99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85925"/>
            <a:ext cx="520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Verify the customer in person.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52BA1-F250-4E46-B627-6FD47EB6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47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49F04-1A12-46D9-A022-36E78843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95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C35F9-1ED7-4C53-8208-7A749C35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47925"/>
            <a:ext cx="520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Find the correct member and tap Reset PIN.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D862F-18C5-4C87-990C-FAB8A62C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CE80A-BC57-4058-893B-AAA0CE80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E75C8-45F6-47BF-9C7D-9AC89BAE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520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Let the customer scan the recovery QR or give the code.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FF2D4-4F90-46CB-86C8-F013234E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71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1E68F-E02A-4EE6-86F5-340A9212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19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93BEE1-A377-4021-B2D1-2631AF01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71925"/>
            <a:ext cx="520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The customer enters the registered phone number.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490949-925C-4EF2-A5E3-67B6F5B9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33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3A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F74E4B-939C-42F4-BD06-B24E0E36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81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7C9644-90A1-47D8-BA23-96D6887A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33925"/>
            <a:ext cx="520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The customer chooses a new six-digit PIN.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B91846-C878-4A8C-98A1-39013CA3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715000"/>
            <a:ext cx="2724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11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057F10-FEEB-44F4-A207-DD5246C8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5310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THE NEW PIN STAYS PRIVATE</a:t>
            </a:r>
          </a:p>
        </p:txBody>
      </p:sp>
    </p:spTree>
    <p:extLst>
      <p:ext uri="{BB962C8B-B14F-4D97-AF65-F5344CB8AC3E}">
        <p14:creationId xmlns:p14="http://schemas.microsoft.com/office/powerpoint/2010/main" val="3500037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B55B7B-48AF-48F2-9368-6E636221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50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00566-ECCC-4B1D-8CD6-102D85D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1C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4662A-0FFE-4E56-8FA9-B0E86E49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35E92-EB01-4819-9B80-F1A267B1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B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46BFF"/>
                </a:solidFill>
                <a:latin typeface="Arial"/>
                <a:ea typeface="Arial"/>
                <a:cs typeface="Arial"/>
              </a:rPr>
              <a:t>EMPLOYEE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3567A-D639-4938-9206-7402C69D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Security and sign-out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FF963-C612-459E-90F5-6CAAB3D1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05939-A37B-4675-82B0-08BF3300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6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469DC-9DDA-410E-9757-38527D63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B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44E53-980C-4576-A4CD-985B3A91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9B9DD"/>
                </a:solidFill>
                <a:latin typeface="Arial"/>
                <a:ea typeface="Arial"/>
                <a:cs typeface="Arial"/>
              </a:rPr>
              <a:t>X GROUP  •  ACTIVITY PASSPORT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18256-F0E5-48D4-B536-9D2F92C7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817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B9D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9B9DD"/>
                </a:solidFill>
                <a:latin typeface="Arial"/>
                <a:ea typeface="Arial"/>
                <a:cs typeface="Arial"/>
              </a:rPr>
              <a:t>xgroup.ae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0C912-F7FF-4877-A692-90CE65AA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3905250" cy="47625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22152E"/>
          </a:solidFill>
          <a:ln xmlns:a="http://schemas.openxmlformats.org/drawingml/2006/main" w="9525">
            <a:solidFill>
              <a:srgbClr val="741CFF"/>
            </a:solidFill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f09280c664b20"/>
          <a:stretch xmlns:a="http://schemas.openxmlformats.org/drawingml/2006/main"/>
        </p:blipFill>
        <p:spPr>
          <a:xfrm xmlns:a="http://schemas.openxmlformats.org/drawingml/2006/main">
            <a:off x="1821680" y="1866900"/>
            <a:ext cx="1404891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6C657-7AC2-4A99-9D17-0506FE2B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81400"/>
            <a:ext cx="2076450" cy="2076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9A95C-5B19-4120-A4AE-26D8E853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338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8050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050D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B56D7-7C13-45EC-995C-CBE0F2B1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958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050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050D"/>
                </a:solidFill>
                <a:latin typeface="Arial"/>
                <a:ea typeface="Arial"/>
                <a:cs typeface="Arial"/>
              </a:rPr>
              <a:t>&amp; SECURE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94DD1-9040-4838-B986-AD247699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Sign out at the end of every shift.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A2D11-69BE-47F9-B42D-B31302CE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685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7111F"/>
          </a:solidFill>
          <a:ln xmlns:a="http://schemas.openxmlformats.org/drawingml/2006/main" w="9525">
            <a:solidFill>
              <a:srgbClr val="3A2B4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42FB9-1005-48FF-BCAD-A318CBD5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571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0738A-17D1-44F7-BEA7-EEDA273F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62125"/>
            <a:ext cx="607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Never ask for or record a customer PIN.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9D090-59E9-4150-94BC-53616C61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47950"/>
            <a:ext cx="571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21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4FB67-8851-4E2A-B2BF-5E49A263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57475"/>
            <a:ext cx="607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Never photograph a passport QR or recovery code.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97142-3F08-48A5-B799-F74DD94A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43300"/>
            <a:ext cx="571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B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4649D-0BC9-467D-B9E7-DEAA98A6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52825"/>
            <a:ext cx="607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Sign out when your shift ends.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60807-1009-415D-9E8E-9FFEC6D9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571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E3A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9B39E6-AB7A-4BDA-A92F-6BFEF9AF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48175"/>
            <a:ext cx="607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4FF"/>
                </a:solidFill>
                <a:latin typeface="Arial"/>
                <a:ea typeface="Arial"/>
                <a:cs typeface="Arial"/>
              </a:rPr>
              <a:t>If a result is unclear, check history—do not repeat the transaction.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D1F6E-2BB6-43A3-8D1A-7C36E655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959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21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5B1418-EBD9-49EE-B97F-151F0144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48300"/>
            <a:ext cx="550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4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4FF"/>
                </a:solidFill>
                <a:latin typeface="Arial"/>
                <a:ea typeface="Arial"/>
                <a:cs typeface="Arial"/>
                <a:hlinkClick xmlns:r="http://schemas.openxmlformats.org/officeDocument/2006/relationships" r:id="Rdda9aa04922a45a4"/>
              </a:rPr>
              <a:t>https://2thooo.github.io/x-stop-site/loyalty/#/admin</a:t>
            </a:r>
          </a:p>
        </p:txBody>
      </p:sp>
    </p:spTree>
    <p:extLst>
      <p:ext uri="{BB962C8B-B14F-4D97-AF65-F5344CB8AC3E}">
        <p14:creationId xmlns:p14="http://schemas.microsoft.com/office/powerpoint/2010/main" val="55238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2026-09-05T16:04:11.5900000Z</dcterms:created>
  <dcterms:modified xsi:type="dcterms:W3CDTF">2026-09-05T16:04:11.5900000Z</dcterms:modified>
</coreProperties>
</file>